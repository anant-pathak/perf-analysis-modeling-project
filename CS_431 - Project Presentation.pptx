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Arimo"/>
      <p:regular r:id="rId27"/>
      <p:bold r:id="rId28"/>
      <p:italic r:id="rId29"/>
      <p:boldItalic r:id="rId30"/>
    </p:embeddedFont>
    <p:embeddedFont>
      <p:font typeface="Arimo SemiBold"/>
      <p:regular r:id="rId31"/>
      <p:bold r:id="rId32"/>
      <p:italic r:id="rId33"/>
      <p:boldItalic r:id="rId34"/>
    </p:embeddedFont>
    <p:embeddedFont>
      <p:font typeface="Lora"/>
      <p:regular r:id="rId35"/>
      <p:bold r:id="rId36"/>
      <p:italic r:id="rId37"/>
      <p:boldItalic r:id="rId38"/>
    </p:embeddedFont>
    <p:embeddedFont>
      <p:font typeface="Azeret Mono"/>
      <p:regular r:id="rId39"/>
      <p:bold r:id="rId40"/>
      <p:italic r:id="rId41"/>
      <p:boldItalic r:id="rId42"/>
    </p:embeddedFont>
    <p:embeddedFont>
      <p:font typeface="Arimo Medium"/>
      <p:regular r:id="rId43"/>
      <p:bold r:id="rId44"/>
      <p:italic r:id="rId45"/>
      <p:boldItalic r:id="rId46"/>
    </p:embeddedFon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zeretMono-bold.fntdata"/><Relationship Id="rId42" Type="http://schemas.openxmlformats.org/officeDocument/2006/relationships/font" Target="fonts/AzeretMono-boldItalic.fntdata"/><Relationship Id="rId41" Type="http://schemas.openxmlformats.org/officeDocument/2006/relationships/font" Target="fonts/AzeretMono-italic.fntdata"/><Relationship Id="rId44" Type="http://schemas.openxmlformats.org/officeDocument/2006/relationships/font" Target="fonts/ArimoMedium-bold.fntdata"/><Relationship Id="rId43" Type="http://schemas.openxmlformats.org/officeDocument/2006/relationships/font" Target="fonts/ArimoMedium-regular.fntdata"/><Relationship Id="rId46" Type="http://schemas.openxmlformats.org/officeDocument/2006/relationships/font" Target="fonts/ArimoMedium-boldItalic.fntdata"/><Relationship Id="rId45" Type="http://schemas.openxmlformats.org/officeDocument/2006/relationships/font" Target="fonts/Arimo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SemiBold-regular.fntdata"/><Relationship Id="rId30" Type="http://schemas.openxmlformats.org/officeDocument/2006/relationships/font" Target="fonts/Arimo-boldItalic.fntdata"/><Relationship Id="rId33" Type="http://schemas.openxmlformats.org/officeDocument/2006/relationships/font" Target="fonts/ArimoSemiBold-italic.fntdata"/><Relationship Id="rId32" Type="http://schemas.openxmlformats.org/officeDocument/2006/relationships/font" Target="fonts/ArimoSemiBold-bold.fntdata"/><Relationship Id="rId35" Type="http://schemas.openxmlformats.org/officeDocument/2006/relationships/font" Target="fonts/Lora-regular.fntdata"/><Relationship Id="rId34" Type="http://schemas.openxmlformats.org/officeDocument/2006/relationships/font" Target="fonts/ArimoSemiBold-boldItalic.fntdata"/><Relationship Id="rId37" Type="http://schemas.openxmlformats.org/officeDocument/2006/relationships/font" Target="fonts/Lora-italic.fntdata"/><Relationship Id="rId36" Type="http://schemas.openxmlformats.org/officeDocument/2006/relationships/font" Target="fonts/Lora-bold.fntdata"/><Relationship Id="rId39" Type="http://schemas.openxmlformats.org/officeDocument/2006/relationships/font" Target="fonts/AzeretMono-regular.fntdata"/><Relationship Id="rId38" Type="http://schemas.openxmlformats.org/officeDocument/2006/relationships/font" Target="fonts/Lora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29" Type="http://schemas.openxmlformats.org/officeDocument/2006/relationships/font" Target="fonts/Arimo-italic.fntdata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1416b083f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1416b083f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1416b083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1416b083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d42f830b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d42f830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d42f830b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d42f830b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d42f830bf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d42f830b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d42f830bf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d42f830bf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66127cbde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66127cbde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66127cbde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866127cbde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66127cbde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866127cbde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66127cbde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866127cbde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d50b30ef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d50b30ef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d50b30e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d50b30e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d918184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d918184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ad50b30ef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ad50b30ef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d4b5e25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ad4b5e25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Discussing CPU vs GPU Performance</a:t>
            </a:r>
            <a:br>
              <a:rPr lang="en">
                <a:solidFill>
                  <a:srgbClr val="ABB2BF"/>
                </a:solidFill>
              </a:rPr>
            </a:br>
            <a:br>
              <a:rPr lang="en">
                <a:solidFill>
                  <a:srgbClr val="ABB2BF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On the left, we see prompt processing performance measured in tokens per second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CPU-only baseline achieves just 7.1 tokens per second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Partial GPU offloading— where only 10 of the 36 model layers run on the GPU—we see minimal improvement to 9.5 t/s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However, with full GPU offloading, performance explodes to 7,788 tokens per second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Note the logarithmic scale—this represents over a 1000x performance improvement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Text generation shows a different pattern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CPU achieves 15.7 t/s, partial GPU reaches 19.8 t/s, and full GPU hits 104.2 t/s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While still significant at 6.6x speedup, this is far less dramatic than prompt processing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difference reveals an important architectural insight: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!! prompt processing is highly parallelizable, while autoregressive text generation has inherent sequential dependencies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Notice that partial GPU offloading performs poorly— worse than you'd expect from interpolating between CPU and GPU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is due to CPU-GPU data transfer overhead, which we'll discuss further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sets our baseline understanding. Now let's quantify these speedups more precisely.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d4b5e25af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d4b5e25a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 Acceleration Speedup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chart directly quantifies the acceleration factors we achieve with GPU offloading, using our CPU baseline as the reference point.</a:t>
            </a:r>
            <a:br>
              <a:rPr lang="en"/>
            </a:br>
            <a:br>
              <a:rPr lang="en"/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Partial GPU offloading shows only 1.35x speedup for prompts and 1.27x for generation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minimal improvement despite using GPU resources demonstrates the cost of hybrid CPU-GPU execution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Data must be continuously shuttled between CPU and GPU memory, creating a bottleneck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Full GPU offloading on the L40S delivers a staggering 1102x speedup for prompt processing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Text generation sees a more modest but still impressive 7x speedup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logarithmic scale is necessary here—these bars would be impossible to display linearly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Switching to the A30 GPU, we see 343x speedup for prompts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While impressive, this is roughly one-third the performance of the L40S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Generation speedup is 5x, again lower than L40S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Interestingly, using two GPUs actually decreases performance to 296x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foreshadows our multi-GPU analysis and suggests communication overhead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key takeaway: for inference workloads on small models like this 8B parameter model, a single powerful GPU is optimal. The all-or-nothing approach wins decisively. Let's examine that multi-GPU phenomenon more closely.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d4b5e25af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d4b5e25af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Multi-GPU Scaling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Conventional wisdom suggests more GPUs should mean better performance. Our data tells a different story for inference on 8 billion parameter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We establish our single GPU baseline at 2,426 tokens per second—shown by the red dashed line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is our target: can multiple GPUs exceed this?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With two GPUs and an 8-8-0-0 tensor split, we see performance drop to 2,090 t/s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That's a 14% performance loss, not a gain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For text generation, we drop from 75.8 to 64.8 tokens per second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Distributing evenly across four GPUs brings us back close to single-GPU performance: 2,424 t/s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But we're using 4x the hardware for essentially the same throughput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represents 0% scaling efficiency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Even with a custom weighted distribution, we see 2,422 t/s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No improvement over the balanced approach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Why does this happen?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For an 8 billion parameter model: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model fits comfortably in a single GPU's memory (5.44 GB VRAM)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Inter-GPU communication overhead exceeds any parallelism benefits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model simply isn't large enough to benefit from distribution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Each GPU synchronization point adds latency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would change dramatically with larger models— a 70B or 405B parameter model would show different scaling characteristics.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TAKEAWAY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inference optimization: Match your GPU count to your model size, not the other way around. More GPUs ≠ better performance for small models.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d4b5e25af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ad4b5e25af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figure represents out hardware analysis for two NVIDIA data center GPUs: the A30 and L40S. Both are enterprise-grade, but they target different workloads.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L40S achieves 7,788 tokens per second compared to the A30's 2,426 t/s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That's a 3.21x performance advantage—substantial for real-world applications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difference stems from several architectural factors: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L40S has higher compute capability (8.9 vs 8.0)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Greater memory bandwidth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More CUDA cores optimized for inference workloads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For text generation, L40S achieves 104.2 t/s versus A30's 75.8 t/s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This is a more modest 1.38x speedup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gap narrows because text generation is memory-bandwidth bound and sequential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The A30's tensor cores are still competitive for this workload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production inference serving, the L40S is the clear choice.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66127cbd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866127cbd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66127cbd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866127cbd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866127cbd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866127cbd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Marko Markoc</a:t>
            </a:r>
            <a:r>
              <a:rPr lang="en"/>
              <a:t> </a:t>
            </a:r>
            <a:r>
              <a:rPr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ᐧ </a:t>
            </a:r>
            <a:r>
              <a:rPr lang="en"/>
              <a:t> Brady Mcatee </a:t>
            </a:r>
            <a:r>
              <a:rPr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ᐧ </a:t>
            </a:r>
            <a:r>
              <a:rPr lang="en"/>
              <a:t> Anant Prakash Pathak ᐧ Reid Wahl ᐧ Aaron Willett</a:t>
            </a:r>
            <a:endParaRPr/>
          </a:p>
        </p:txBody>
      </p:sp>
      <p:sp>
        <p:nvSpPr>
          <p:cNvPr id="353" name="Google Shape;353;p44"/>
          <p:cNvSpPr txBox="1"/>
          <p:nvPr>
            <p:ph idx="2" type="subTitle"/>
          </p:nvPr>
        </p:nvSpPr>
        <p:spPr>
          <a:xfrm>
            <a:off x="805650" y="582750"/>
            <a:ext cx="697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354" name="Google Shape;354;p4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355" name="Google Shape;355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December 2025</a:t>
            </a:r>
            <a:endParaRPr/>
          </a:p>
        </p:txBody>
      </p:sp>
      <p:sp>
        <p:nvSpPr>
          <p:cNvPr id="356" name="Google Shape;356;p44"/>
          <p:cNvSpPr txBox="1"/>
          <p:nvPr>
            <p:ph type="title"/>
          </p:nvPr>
        </p:nvSpPr>
        <p:spPr>
          <a:xfrm>
            <a:off x="795525" y="2323100"/>
            <a:ext cx="67839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LLAMA.CPP AND LLAMA–BENCHMARK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>
            <p:ph idx="1" type="subTitle"/>
          </p:nvPr>
        </p:nvSpPr>
        <p:spPr>
          <a:xfrm>
            <a:off x="1195200" y="2226050"/>
            <a:ext cx="6753600" cy="18969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Plain C/C++ llama implementation with a goal of enabling LLM inference with minimal setup and state-of-the-art performance on a wide range of hardware - locally and in the cloud.</a:t>
            </a:r>
            <a:endParaRPr/>
          </a:p>
        </p:txBody>
      </p:sp>
      <p:sp>
        <p:nvSpPr>
          <p:cNvPr id="362" name="Google Shape;362;p4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December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364" name="Google Shape;36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5" name="Google Shape;36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163" y="416250"/>
            <a:ext cx="5157675" cy="17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6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6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372" name="Google Shape;372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6"/>
          <p:cNvSpPr txBox="1"/>
          <p:nvPr>
            <p:ph idx="1" type="subTitle"/>
          </p:nvPr>
        </p:nvSpPr>
        <p:spPr>
          <a:xfrm>
            <a:off x="462225" y="913298"/>
            <a:ext cx="7604700" cy="4106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How much faster is GPU acceleration compared to CPU-only inference for LLM workloads?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Does llama.cpp achieve linear scaling as we add multiple GPUs?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What is the impact of partial GPU offloading versus full offloading on inference performance?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Does tensor split configuration (balanced vs. weighted) affect multi-GPU performance?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Same model family but different parameters(0.6B vs 4B vs 8B), impact?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Performance difference between L40s and A30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1876125" y="1801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Project will evaluate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7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381" name="Google Shape;381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47"/>
          <p:cNvSpPr txBox="1"/>
          <p:nvPr>
            <p:ph idx="1" type="subTitle"/>
          </p:nvPr>
        </p:nvSpPr>
        <p:spPr>
          <a:xfrm>
            <a:off x="277500" y="898975"/>
            <a:ext cx="7604700" cy="36180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ORCA HPC cluster node: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AMD EPYC 9534 64-Core Processor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64 threads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568 GB of RAM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4 x Nvidia A30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3584 cores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24GB memory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4 x Nvidia L40s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18176 cores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48GB memory</a:t>
            </a:r>
            <a:endParaRPr sz="2000"/>
          </a:p>
        </p:txBody>
      </p:sp>
      <p:sp>
        <p:nvSpPr>
          <p:cNvPr id="383" name="Google Shape;383;p47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Platform used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84" name="Google Shape;38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825" y="898975"/>
            <a:ext cx="3341000" cy="371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8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391" name="Google Shape;391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48"/>
          <p:cNvSpPr txBox="1"/>
          <p:nvPr>
            <p:ph idx="1" type="subTitle"/>
          </p:nvPr>
        </p:nvSpPr>
        <p:spPr>
          <a:xfrm>
            <a:off x="340350" y="1010700"/>
            <a:ext cx="7604700" cy="26400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Dependencies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OpenBLAS 0.3.29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CUDA 12.9.0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Build options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cmake -B build -DGGML_BLAS=ON -DGGML_BLAS_VENDOR=OpenBLAS -DGGML_CUDA=ON</a:t>
            </a:r>
            <a:endParaRPr sz="2000"/>
          </a:p>
        </p:txBody>
      </p:sp>
      <p:sp>
        <p:nvSpPr>
          <p:cNvPr id="393" name="Google Shape;393;p48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Llama-cpp build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00" name="Google Shape;400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49"/>
          <p:cNvSpPr txBox="1"/>
          <p:nvPr>
            <p:ph idx="1" type="subTitle"/>
          </p:nvPr>
        </p:nvSpPr>
        <p:spPr>
          <a:xfrm>
            <a:off x="367650" y="1010700"/>
            <a:ext cx="7566900" cy="30831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Qwen3-8B-Q5_K_M</a:t>
            </a:r>
            <a:endParaRPr b="1"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offering a comprehensive suite of dense and mixture-of-experts (MoE) models. Built upon extensive training, Qwen3 delivers groundbreaking advancements in reasoning, instruction-following, agent capabilities, and multilingual support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Number of Parameters: 8.2B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Number of Layers: 36</a:t>
            </a:r>
            <a:endParaRPr b="1" sz="2000"/>
          </a:p>
        </p:txBody>
      </p:sp>
      <p:sp>
        <p:nvSpPr>
          <p:cNvPr id="402" name="Google Shape;402;p49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09" name="Google Shape;409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0"/>
          <p:cNvSpPr txBox="1"/>
          <p:nvPr>
            <p:ph idx="1" type="subTitle"/>
          </p:nvPr>
        </p:nvSpPr>
        <p:spPr>
          <a:xfrm>
            <a:off x="367650" y="1010700"/>
            <a:ext cx="7566900" cy="30831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CLI tool for benchmarking llama.cpp performance with various parameters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Part of a llama.cpp installation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as driver for our experiments – don’t reinvent the wheel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Three test modes: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Prompt processing (pp): Process </a:t>
            </a:r>
            <a:r>
              <a:rPr lang="en" sz="1400"/>
              <a:t>a prompt </a:t>
            </a:r>
            <a:r>
              <a:rPr lang="en" sz="1400"/>
              <a:t>in batches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Specify number of tokens per prompt (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--n-prompt=N</a:t>
            </a:r>
            <a:r>
              <a:rPr lang="en" sz="1200"/>
              <a:t>; </a:t>
            </a:r>
            <a:r>
              <a:rPr lang="en" sz="1200"/>
              <a:t>default: 512)</a:t>
            </a:r>
            <a:endParaRPr sz="12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Text generation (tg): Generate a sequence of tokens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Specify number of tokens in generated sequence (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--n-gen=N</a:t>
            </a:r>
            <a:r>
              <a:rPr lang="en" sz="1200"/>
              <a:t>; </a:t>
            </a:r>
            <a:r>
              <a:rPr lang="en" sz="1200"/>
              <a:t>default: 128)</a:t>
            </a:r>
            <a:endParaRPr sz="12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Mixed (pg): Process a prompt and then generate a </a:t>
            </a:r>
            <a:r>
              <a:rPr lang="en" sz="1400"/>
              <a:t>sequence</a:t>
            </a:r>
            <a:r>
              <a:rPr lang="en" sz="1400"/>
              <a:t> of tokens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Specify number of tokens in prompt and response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-pg=M,N</a:t>
            </a:r>
            <a:r>
              <a:rPr lang="en" sz="1200"/>
              <a:t>; disabled by default</a:t>
            </a:r>
            <a:endParaRPr sz="1200"/>
          </a:p>
        </p:txBody>
      </p:sp>
      <p:sp>
        <p:nvSpPr>
          <p:cNvPr id="411" name="Google Shape;411;p50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llama-bench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1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18" name="Google Shape;418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1"/>
          <p:cNvSpPr txBox="1"/>
          <p:nvPr>
            <p:ph idx="1" type="subTitle"/>
          </p:nvPr>
        </p:nvSpPr>
        <p:spPr>
          <a:xfrm>
            <a:off x="367650" y="1010700"/>
            <a:ext cx="7566900" cy="30831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Survey of features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Control size of prompts, responses (generated sequences), and batches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Control number of threads (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--threads=N</a:t>
            </a:r>
            <a:r>
              <a:rPr lang="en" sz="1200"/>
              <a:t>; </a:t>
            </a:r>
            <a:r>
              <a:rPr lang="en" sz="1400"/>
              <a:t>default: 4)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Control how tensors are split across multiple GPUs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--tensor-split=3,2</a:t>
            </a:r>
            <a:r>
              <a:rPr lang="en" sz="1200"/>
              <a:t> puts 60% on device 0 and 40% on device 1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--split-mode</a:t>
            </a:r>
            <a:r>
              <a:rPr lang="en" sz="1200"/>
              <a:t> can be set to none, layer, or row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400"/>
              <a:t>Control number of layers offloaded to GPUs (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--n-gpu-layers=N</a:t>
            </a:r>
            <a:r>
              <a:rPr lang="en" sz="1200"/>
              <a:t>; </a:t>
            </a:r>
            <a:r>
              <a:rPr lang="en" sz="1400"/>
              <a:t>default: 99)</a:t>
            </a:r>
            <a:endParaRPr sz="1200"/>
          </a:p>
        </p:txBody>
      </p:sp>
      <p:sp>
        <p:nvSpPr>
          <p:cNvPr id="420" name="Google Shape;420;p51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llama-bench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27" name="Google Shape;427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52"/>
          <p:cNvSpPr txBox="1"/>
          <p:nvPr>
            <p:ph idx="1" type="subTitle"/>
          </p:nvPr>
        </p:nvSpPr>
        <p:spPr>
          <a:xfrm>
            <a:off x="367650" y="1010700"/>
            <a:ext cx="7566900" cy="30831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Survey of features (cont.)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Repeat all tests a given number of times (default: 5)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Ex: 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--repetitions=10</a:t>
            </a:r>
            <a:r>
              <a:rPr lang="en" sz="1200"/>
              <a:t> repeats every requested test 10 times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Larger sample size for statistical analysis</a:t>
            </a:r>
            <a:endParaRPr sz="12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Run multiple tests per invocation to compare varying settings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Ex: </a:t>
            </a:r>
            <a:r>
              <a:rPr lang="en" sz="1200">
                <a:latin typeface="Azeret Mono"/>
                <a:ea typeface="Azeret Mono"/>
                <a:cs typeface="Azeret Mono"/>
                <a:sym typeface="Azeret Mono"/>
              </a:rPr>
              <a:t>--n-prompt=16,32,64,128</a:t>
            </a:r>
            <a:r>
              <a:rPr lang="en" sz="1200"/>
              <a:t> runs tests with prompt sizes 16, 32, 64, and 128.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Output collects test results into one table – useful for scaling tests, etc.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Can create a “test matrix.” Examples: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Vary the model and the generated token sequence length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Vary the prompt size and the number of threads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Output results in various native formats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CSV, JSON, JSON Lines, Markdown, SQL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Makes analysis and presentation easy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Limitation: Can only specify one format per run. Can’t get same results in CSV and MD</a:t>
            </a:r>
            <a:r>
              <a:rPr lang="en" sz="1200"/>
              <a:t>.</a:t>
            </a:r>
            <a:endParaRPr sz="1600"/>
          </a:p>
        </p:txBody>
      </p:sp>
      <p:sp>
        <p:nvSpPr>
          <p:cNvPr id="429" name="Google Shape;429;p52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llama-bench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3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December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3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36" name="Google Shape;436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3"/>
          <p:cNvSpPr txBox="1"/>
          <p:nvPr>
            <p:ph idx="1" type="subTitle"/>
          </p:nvPr>
        </p:nvSpPr>
        <p:spPr>
          <a:xfrm>
            <a:off x="367650" y="1010700"/>
            <a:ext cx="7566900" cy="30831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we used it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Offloading to single GPU, across model sizes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Layers offloaded: 0, 10, all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Model sizes (Qwen3): 0.6B, 4B, 8B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CPU using OpenBLAS backend</a:t>
            </a:r>
            <a:endParaRPr sz="12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Tensor split (or number of GPUs)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Four GPUs available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Splits: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One GPU: 100% / 0% / 0% / 0%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Two GPUs (balanced): 50% / 50% / 0% / 0%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Four GPUs (balanced): 25% / 25% / 25% / 25%</a:t>
            </a:r>
            <a:endParaRPr sz="1200"/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Four GPUs (weighted): 31.25% / 31.25% / 18.75% / 18.75% (ratio: 5:5:3:3)</a:t>
            </a:r>
            <a:endParaRPr sz="12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Note: Parameters that are not noted remained fixed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Profiling CPU/GPU execution</a:t>
            </a:r>
            <a:endParaRPr sz="14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CPU: gperftools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GPU: nvidia-nsight-systems</a:t>
            </a:r>
            <a:endParaRPr sz="1200"/>
          </a:p>
        </p:txBody>
      </p:sp>
      <p:sp>
        <p:nvSpPr>
          <p:cNvPr id="438" name="Google Shape;438;p53"/>
          <p:cNvSpPr txBox="1"/>
          <p:nvPr/>
        </p:nvSpPr>
        <p:spPr>
          <a:xfrm>
            <a:off x="1907700" y="277500"/>
            <a:ext cx="477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llama-bench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4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45" name="Google Shape;445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54"/>
          <p:cNvSpPr txBox="1"/>
          <p:nvPr/>
        </p:nvSpPr>
        <p:spPr>
          <a:xfrm>
            <a:off x="1294200" y="234925"/>
            <a:ext cx="6555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CPU Profiling with gperftools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47" name="Google Shape;44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088" y="796026"/>
            <a:ext cx="6521836" cy="430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5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54" name="Google Shape;454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55"/>
          <p:cNvSpPr txBox="1"/>
          <p:nvPr/>
        </p:nvSpPr>
        <p:spPr>
          <a:xfrm>
            <a:off x="1294200" y="234925"/>
            <a:ext cx="6555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CPU Profiling with gperftools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56" name="Google Shape;4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13" y="1450775"/>
            <a:ext cx="8285575" cy="26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63" name="Google Shape;463;p5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56"/>
          <p:cNvSpPr txBox="1"/>
          <p:nvPr/>
        </p:nvSpPr>
        <p:spPr>
          <a:xfrm>
            <a:off x="3197700" y="198425"/>
            <a:ext cx="35943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GPU Profiling</a:t>
            </a: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5" name="Google Shape;46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38" y="778201"/>
            <a:ext cx="8765133" cy="397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7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72" name="Google Shape;472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57"/>
          <p:cNvSpPr txBox="1"/>
          <p:nvPr/>
        </p:nvSpPr>
        <p:spPr>
          <a:xfrm>
            <a:off x="2486075" y="213625"/>
            <a:ext cx="44025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CPU vs GPU Profiles</a:t>
            </a:r>
            <a:endParaRPr b="1" sz="3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74" name="Google Shape;474;p57" title="cpu_gpu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40" y="991737"/>
            <a:ext cx="8679255" cy="318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80" name="Google Shape;480;p5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</p:txBody>
      </p:sp>
      <p:sp>
        <p:nvSpPr>
          <p:cNvPr id="481" name="Google Shape;481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2" name="Google Shape;482;p58" title="1_cpu_vs_gp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8658"/>
            <a:ext cx="8839204" cy="378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88" name="Google Shape;488;p5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</p:txBody>
      </p:sp>
      <p:sp>
        <p:nvSpPr>
          <p:cNvPr id="489" name="Google Shape;489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0" name="Google Shape;490;p59" title="2_speed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88" y="568658"/>
            <a:ext cx="8097224" cy="402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496" name="Google Shape;496;p6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</p:txBody>
      </p:sp>
      <p:sp>
        <p:nvSpPr>
          <p:cNvPr id="497" name="Google Shape;497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60" title="3_multi_gp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8658"/>
            <a:ext cx="8839204" cy="3776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  <p:sp>
        <p:nvSpPr>
          <p:cNvPr id="504" name="Google Shape;504;p6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</a:t>
            </a:r>
            <a:r>
              <a:rPr lang="en"/>
              <a:t>December</a:t>
            </a:r>
            <a:r>
              <a:rPr lang="en"/>
              <a:t> 2025</a:t>
            </a:r>
            <a:endParaRPr/>
          </a:p>
        </p:txBody>
      </p:sp>
      <p:sp>
        <p:nvSpPr>
          <p:cNvPr id="505" name="Google Shape;505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6" name="Google Shape;506;p61" title="4_hardw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8658"/>
            <a:ext cx="8839204" cy="3776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/>
          <p:nvPr>
            <p:ph type="title"/>
          </p:nvPr>
        </p:nvSpPr>
        <p:spPr>
          <a:xfrm>
            <a:off x="277500" y="278850"/>
            <a:ext cx="8589000" cy="45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Qwen3 - 0.6B vs 4B vs 8B : prompt processing</a:t>
            </a:r>
            <a:endParaRPr sz="3100"/>
          </a:p>
        </p:txBody>
      </p:sp>
      <p:pic>
        <p:nvPicPr>
          <p:cNvPr id="512" name="Google Shape;512;p62" title="pp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388" y="939950"/>
            <a:ext cx="6875225" cy="41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December 2025</a:t>
            </a:r>
            <a:endParaRPr/>
          </a:p>
        </p:txBody>
      </p:sp>
      <p:sp>
        <p:nvSpPr>
          <p:cNvPr id="514" name="Google Shape;514;p6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3"/>
          <p:cNvSpPr txBox="1"/>
          <p:nvPr>
            <p:ph type="title"/>
          </p:nvPr>
        </p:nvSpPr>
        <p:spPr>
          <a:xfrm>
            <a:off x="277500" y="238197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900"/>
              <a:t>Qwen3 - 0.6B vs 4B vs 8B : token generation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0" name="Google Shape;52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825" y="862625"/>
            <a:ext cx="6876325" cy="412579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3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December 2025</a:t>
            </a:r>
            <a:endParaRPr/>
          </a:p>
        </p:txBody>
      </p:sp>
      <p:sp>
        <p:nvSpPr>
          <p:cNvPr id="522" name="Google Shape;522;p6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"/>
          <p:cNvSpPr txBox="1"/>
          <p:nvPr>
            <p:ph type="title"/>
          </p:nvPr>
        </p:nvSpPr>
        <p:spPr>
          <a:xfrm>
            <a:off x="277500" y="17500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28" name="Google Shape;528;p64"/>
          <p:cNvSpPr txBox="1"/>
          <p:nvPr/>
        </p:nvSpPr>
        <p:spPr>
          <a:xfrm>
            <a:off x="287175" y="746675"/>
            <a:ext cx="8589000" cy="43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Massive GPU Speedup: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Full GPU Offloading provided over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1000x acceleration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for Prompt Processing (</a:t>
            </a:r>
            <a:r>
              <a:rPr lang="en">
                <a:solidFill>
                  <a:srgbClr val="188038"/>
                </a:solidFill>
                <a:latin typeface="Arimo"/>
                <a:ea typeface="Arimo"/>
                <a:cs typeface="Arimo"/>
                <a:sym typeface="Arimo"/>
              </a:rPr>
              <a:t>pp512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compared to the CPU-Only base.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Offloading is Essential: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Full GPU Offloading is required for peak performance; Partial Offloading showed only marginal gains.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Token Generation Bottleneck: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The sequential nature of Text Generation (</a:t>
            </a:r>
            <a:r>
              <a:rPr lang="en">
                <a:solidFill>
                  <a:srgbClr val="188038"/>
                </a:solidFill>
                <a:latin typeface="Arimo"/>
                <a:ea typeface="Arimo"/>
                <a:cs typeface="Arimo"/>
                <a:sym typeface="Arimo"/>
              </a:rPr>
              <a:t>tg128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makes it the performance bottleneck, limiting overall chat speed due to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Memory Bandwidth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constraints.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CPU is limited by the </a:t>
            </a:r>
            <a:r>
              <a:rPr b="1" lang="en">
                <a:solidFill>
                  <a:schemeClr val="lt1"/>
                </a:solidFill>
              </a:rPr>
              <a:t>speed of calculation</a:t>
            </a:r>
            <a:r>
              <a:rPr lang="en">
                <a:solidFill>
                  <a:schemeClr val="lt1"/>
                </a:solidFill>
              </a:rPr>
              <a:t> (spending 46.3% of time on matrix math), while the GPU is limited by </a:t>
            </a:r>
            <a:r>
              <a:rPr b="1" lang="en">
                <a:solidFill>
                  <a:schemeClr val="lt1"/>
                </a:solidFill>
              </a:rPr>
              <a:t>memory bandwidth</a:t>
            </a:r>
            <a:r>
              <a:rPr lang="en">
                <a:solidFill>
                  <a:schemeClr val="lt1"/>
                </a:solidFill>
              </a:rPr>
              <a:t>—its fast cores wait for the memory system to load model parameters for each sequential token generated.</a:t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Hardware Advantage: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The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NVIDIA L40S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delivered superior performance, being </a:t>
            </a: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3.21x faster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at prompt processing than the A30 GPU.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Scaling &amp; Strategy: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Smaller models (e.g., Qwen3-0.6B) are faster overall. </a:t>
            </a:r>
            <a:r>
              <a:rPr lang="en">
                <a:solidFill>
                  <a:srgbClr val="188038"/>
                </a:solidFill>
                <a:latin typeface="Arimo"/>
                <a:ea typeface="Arimo"/>
                <a:cs typeface="Arimo"/>
                <a:sym typeface="Arimo"/>
              </a:rPr>
              <a:t>Llama.cpp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's multi-GPU strategy (Layer Slicing) showed near-zero speedup in generation, highlighting the need for true Tensor Parallelism (found in frameworks like vLLM/ExLlamaV2) for efficient multi-GPU scaling.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9" name="Google Shape;529;p6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December 2025</a:t>
            </a:r>
            <a:endParaRPr/>
          </a:p>
        </p:txBody>
      </p:sp>
      <p:sp>
        <p:nvSpPr>
          <p:cNvPr id="530" name="Google Shape;530;p6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 431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